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25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960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1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71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33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42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914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776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974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866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419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A7E2F1D-FA85-42C1-9470-58ACBC762307}" type="datetimeFigureOut">
              <a:rPr lang="hu-HU" smtClean="0"/>
              <a:t>2026. 06. 04.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BEC850A-AD95-4E06-8CBD-DC8D6E02952F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38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23EFCE-849B-19ED-C071-DC3595445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 objektumfelismerő 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BB08E37-9F28-8E87-CB33-FA18EC8C4F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Gál Tamás</a:t>
            </a:r>
          </a:p>
        </p:txBody>
      </p:sp>
    </p:spTree>
    <p:extLst>
      <p:ext uri="{BB962C8B-B14F-4D97-AF65-F5344CB8AC3E}">
        <p14:creationId xmlns:p14="http://schemas.microsoft.com/office/powerpoint/2010/main" val="388524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3B90B8B-F76B-4130-8370-38033EEA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65FE065-D4D2-E90E-4FBC-BB9E50B0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hu-HU" dirty="0"/>
              <a:t>Bevezetés, témaválasztás aktualitása</a:t>
            </a:r>
          </a:p>
        </p:txBody>
      </p:sp>
      <p:pic>
        <p:nvPicPr>
          <p:cNvPr id="1028" name="Picture 4" descr="La réalité augmentée révolutionne le catalogue IKEA - IDEAT">
            <a:extLst>
              <a:ext uri="{FF2B5EF4-FFF2-40B4-BE49-F238E27FC236}">
                <a16:creationId xmlns:a16="http://schemas.microsoft.com/office/drawing/2014/main" id="{379FAC1D-C17C-455A-4C1C-B2FB9C63B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4" r="3" b="3"/>
          <a:stretch>
            <a:fillRect/>
          </a:stretch>
        </p:blipFill>
        <p:spPr bwMode="auto">
          <a:xfrm>
            <a:off x="633999" y="581098"/>
            <a:ext cx="4020297" cy="247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2D93264-3FF9-4175-A7FA-F927F0F7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oogle is adding a new feature to Maps that'll give you a more accurate ...">
            <a:extLst>
              <a:ext uri="{FF2B5EF4-FFF2-40B4-BE49-F238E27FC236}">
                <a16:creationId xmlns:a16="http://schemas.microsoft.com/office/drawing/2014/main" id="{70A97300-17E1-9C85-8C5B-64483F13A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0" r="3" b="13812"/>
          <a:stretch>
            <a:fillRect/>
          </a:stretch>
        </p:blipFill>
        <p:spPr bwMode="auto">
          <a:xfrm>
            <a:off x="633999" y="3218101"/>
            <a:ext cx="4020296" cy="247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001EC7-1CBB-7C27-227E-A363FBDD5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Technológiai kontextus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A téma aktualitása és ipari jelentősége</a:t>
            </a:r>
          </a:p>
          <a:p>
            <a:pPr marL="902358" lvl="1" indent="-285750">
              <a:buFont typeface="Arial" panose="020B0604020202020204" pitchFamily="34" charset="0"/>
              <a:buChar char="•"/>
            </a:pPr>
            <a:r>
              <a:rPr lang="hu-HU" sz="2000" dirty="0"/>
              <a:t>Karbantartás</a:t>
            </a:r>
          </a:p>
          <a:p>
            <a:pPr marL="902358" lvl="1" indent="-285750">
              <a:buFont typeface="Arial" panose="020B0604020202020204" pitchFamily="34" charset="0"/>
              <a:buChar char="•"/>
            </a:pPr>
            <a:r>
              <a:rPr lang="hu-HU" sz="2000" dirty="0"/>
              <a:t>Logisztika és raktározás</a:t>
            </a:r>
          </a:p>
          <a:p>
            <a:pPr marL="902358" lvl="1" indent="-285750">
              <a:buFont typeface="Arial" panose="020B0604020202020204" pitchFamily="34" charset="0"/>
              <a:buChar char="•"/>
            </a:pPr>
            <a:r>
              <a:rPr lang="hu-HU" sz="2000" dirty="0"/>
              <a:t>Asszisztív technológiák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Célkitűzések</a:t>
            </a:r>
          </a:p>
          <a:p>
            <a:pPr marL="902358" lvl="1" indent="-285750">
              <a:buFont typeface="Arial" panose="020B0604020202020204" pitchFamily="34" charset="0"/>
              <a:buChar char="•"/>
            </a:pPr>
            <a:r>
              <a:rPr lang="hu-HU" sz="2000" dirty="0"/>
              <a:t>Valós idejű feldolgozás</a:t>
            </a:r>
          </a:p>
          <a:p>
            <a:pPr marL="902358" lvl="1" indent="-285750">
              <a:buFont typeface="Arial" panose="020B0604020202020204" pitchFamily="34" charset="0"/>
              <a:buChar char="•"/>
            </a:pPr>
            <a:r>
              <a:rPr lang="hu-HU" sz="2000" dirty="0"/>
              <a:t>Térbeli perzisztencia</a:t>
            </a:r>
          </a:p>
          <a:p>
            <a:pPr marL="902358" lvl="1" indent="-285750">
              <a:buFont typeface="Arial" panose="020B0604020202020204" pitchFamily="34" charset="0"/>
              <a:buChar char="•"/>
            </a:pPr>
            <a:r>
              <a:rPr lang="hu-HU" sz="2000" dirty="0"/>
              <a:t>Robosztus környezetérzékelés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1C67939-3FD0-4B45-8AA4-9FE55C7E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981A96A-A87C-4F87-845A-3B0A6529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47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8AF65-B200-31D8-6770-5BB7E7D3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A484A77-6638-CF66-803E-A57AA05B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hu-HU" sz="4100"/>
              <a:t>Feladat és problémakör bemutatása</a:t>
            </a:r>
          </a:p>
        </p:txBody>
      </p:sp>
      <p:pic>
        <p:nvPicPr>
          <p:cNvPr id="2050" name="Picture 2" descr="ARCore 101: Quick guide to Google’s Augmented Reality platform">
            <a:extLst>
              <a:ext uri="{FF2B5EF4-FFF2-40B4-BE49-F238E27FC236}">
                <a16:creationId xmlns:a16="http://schemas.microsoft.com/office/drawing/2014/main" id="{BA356F3B-ED1F-0077-9D34-577584F0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1735709"/>
            <a:ext cx="5451627" cy="306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0B9922-8832-50F3-39FE-B1CA5764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A hagyományos 2D detekció korlátai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Mélységérzékelés hiánya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Térbeli perzisztencia hiánya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Kitűzött részfeladatok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A környezet 3D-s reprezentációja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Nagy teljesítményű képfeldolgozó algoritmus integrálása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Leképezés a 3D-s világtérbe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904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B5D72-8867-2FC7-896C-ED019902C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E616FB-A658-DCEA-BD56-2EB87CED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Félév ütemezése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3D9B5C-1A6F-B753-752D-F7E536B7E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1–3. hét: Előkészületek és utánajárás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4–6. hét: Környezetérzékelés és vizualizáció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7–9. hét: Objektumdetekciós pipeline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10–12. hét: Térbeli illesztés és interakció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13–14. hét: Tesztelés és dokumentáció</a:t>
            </a:r>
          </a:p>
        </p:txBody>
      </p:sp>
    </p:spTree>
    <p:extLst>
      <p:ext uri="{BB962C8B-B14F-4D97-AF65-F5344CB8AC3E}">
        <p14:creationId xmlns:p14="http://schemas.microsoft.com/office/powerpoint/2010/main" val="306067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5C084-9104-BF30-4194-7D7B505C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CC98F20-067F-5247-B947-7A679DA4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hu-HU" dirty="0"/>
              <a:t>Felhasznált technológiák</a:t>
            </a:r>
          </a:p>
        </p:txBody>
      </p:sp>
      <p:pic>
        <p:nvPicPr>
          <p:cNvPr id="5122" name="Picture 2" descr="Hit-tests place virtual objects in the real world | ARCore | Google for ...">
            <a:extLst>
              <a:ext uri="{FF2B5EF4-FFF2-40B4-BE49-F238E27FC236}">
                <a16:creationId xmlns:a16="http://schemas.microsoft.com/office/drawing/2014/main" id="{3400677F-A607-B31F-B5CB-6F95AF5DC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1824298"/>
            <a:ext cx="5451627" cy="28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1225D8-C695-5D21-1817-1E2C7417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 lnSpcReduction="10000"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Programozási nyelv és környezet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Google ARCore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Mozgáskövetés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Környezetérzékelés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Ütközésvizsgálat (Hit-test)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Horgonyok létrehozása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Koordináta-transzformáció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Google ML Kit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 err="1"/>
              <a:t>On-device</a:t>
            </a:r>
            <a:r>
              <a:rPr lang="hu-HU" sz="2000" dirty="0"/>
              <a:t> futtatás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 err="1"/>
              <a:t>Custom</a:t>
            </a:r>
            <a:r>
              <a:rPr lang="hu-HU" sz="2000" dirty="0"/>
              <a:t> </a:t>
            </a:r>
            <a:r>
              <a:rPr lang="hu-HU" sz="2000" dirty="0" err="1"/>
              <a:t>Model</a:t>
            </a:r>
            <a:r>
              <a:rPr lang="hu-HU" sz="2000" dirty="0"/>
              <a:t> támogatás</a:t>
            </a: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711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41389-A39E-45F8-2402-66D8DEA4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8" name="Rectangle 3107">
            <a:extLst>
              <a:ext uri="{FF2B5EF4-FFF2-40B4-BE49-F238E27FC236}">
                <a16:creationId xmlns:a16="http://schemas.microsoft.com/office/drawing/2014/main" id="{C642902F-4656-4563-AB0B-2EB57ACCD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330BA2-3499-AA5D-DA54-9F6F61309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2256" y="634946"/>
            <a:ext cx="4821283" cy="1450757"/>
          </a:xfrm>
        </p:spPr>
        <p:txBody>
          <a:bodyPr>
            <a:normAutofit/>
          </a:bodyPr>
          <a:lstStyle/>
          <a:p>
            <a:r>
              <a:rPr lang="hu-HU" dirty="0"/>
              <a:t>Felhasznált technológiák</a:t>
            </a:r>
          </a:p>
        </p:txBody>
      </p:sp>
      <p:sp>
        <p:nvSpPr>
          <p:cNvPr id="3110" name="Rectangle 3109">
            <a:extLst>
              <a:ext uri="{FF2B5EF4-FFF2-40B4-BE49-F238E27FC236}">
                <a16:creationId xmlns:a16="http://schemas.microsoft.com/office/drawing/2014/main" id="{2793D4A6-D9A6-4743-902C-5C956F8CA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2806700" cy="2764992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2" name="Rectangle 3111">
            <a:extLst>
              <a:ext uri="{FF2B5EF4-FFF2-40B4-BE49-F238E27FC236}">
                <a16:creationId xmlns:a16="http://schemas.microsoft.com/office/drawing/2014/main" id="{82D6E6E8-60D6-43DF-AB32-F009976E9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9300" y="321733"/>
            <a:ext cx="2806699" cy="2764991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7C9EB09-062D-8E7F-B004-65C60E7DD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2" y="876170"/>
            <a:ext cx="2470771" cy="1673947"/>
          </a:xfrm>
          <a:prstGeom prst="rect">
            <a:avLst/>
          </a:prstGeom>
        </p:spPr>
      </p:pic>
      <p:cxnSp>
        <p:nvCxnSpPr>
          <p:cNvPr id="3114" name="Straight Connector 3113">
            <a:extLst>
              <a:ext uri="{FF2B5EF4-FFF2-40B4-BE49-F238E27FC236}">
                <a16:creationId xmlns:a16="http://schemas.microsoft.com/office/drawing/2014/main" id="{FDF97CA6-0525-4AD4-8E21-2C9A75DB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63893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6" name="Rectangle 3115">
            <a:extLst>
              <a:ext uri="{FF2B5EF4-FFF2-40B4-BE49-F238E27FC236}">
                <a16:creationId xmlns:a16="http://schemas.microsoft.com/office/drawing/2014/main" id="{BE24306B-0379-4C6F-80A1-5A7D01A13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47592"/>
            <a:ext cx="2806700" cy="273618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8" name="Rectangle 3117">
            <a:extLst>
              <a:ext uri="{FF2B5EF4-FFF2-40B4-BE49-F238E27FC236}">
                <a16:creationId xmlns:a16="http://schemas.microsoft.com/office/drawing/2014/main" id="{98F8BC0B-2185-4E1F-B3E4-6C4034B46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3494" y="3247592"/>
            <a:ext cx="2792505" cy="273618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Introduction to Shaders - Wawa Sensei">
            <a:extLst>
              <a:ext uri="{FF2B5EF4-FFF2-40B4-BE49-F238E27FC236}">
                <a16:creationId xmlns:a16="http://schemas.microsoft.com/office/drawing/2014/main" id="{DCE02976-DE45-9911-EE0A-3502F362A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581" y="4134618"/>
            <a:ext cx="2470771" cy="95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C2C92C-2D1F-2BA7-0512-A44A6F0E8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2256" y="2198914"/>
            <a:ext cx="4821283" cy="3670180"/>
          </a:xfrm>
        </p:spPr>
        <p:txBody>
          <a:bodyPr>
            <a:normAutofit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OpenGL ES és Shader programozás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Vertex shader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Fragment shader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Segédkönyvtárak és UI keretrendszer</a:t>
            </a:r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 err="1"/>
              <a:t>Jetpack</a:t>
            </a:r>
            <a:r>
              <a:rPr lang="hu-HU" sz="2000" dirty="0"/>
              <a:t> </a:t>
            </a:r>
            <a:r>
              <a:rPr lang="hu-HU" sz="2000" dirty="0" err="1"/>
              <a:t>Compose</a:t>
            </a:r>
            <a:endParaRPr lang="hu-HU" sz="2000" dirty="0"/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 err="1"/>
              <a:t>SampleRender</a:t>
            </a:r>
            <a:endParaRPr lang="hu-HU" sz="2000" dirty="0"/>
          </a:p>
          <a:p>
            <a:pPr marL="959508" lvl="1" indent="-342900">
              <a:buFont typeface="Arial" panose="020B0604020202020204" pitchFamily="34" charset="0"/>
              <a:buChar char="•"/>
            </a:pPr>
            <a:r>
              <a:rPr lang="hu-HU" sz="2000" dirty="0"/>
              <a:t>OBJ Parser</a:t>
            </a:r>
          </a:p>
        </p:txBody>
      </p:sp>
      <p:sp>
        <p:nvSpPr>
          <p:cNvPr id="3120" name="Rectangle 3119">
            <a:extLst>
              <a:ext uri="{FF2B5EF4-FFF2-40B4-BE49-F238E27FC236}">
                <a16:creationId xmlns:a16="http://schemas.microsoft.com/office/drawing/2014/main" id="{9204E438-647D-40F8-9613-FA00FF3E5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122" name="Rectangle 3121">
            <a:extLst>
              <a:ext uri="{FF2B5EF4-FFF2-40B4-BE49-F238E27FC236}">
                <a16:creationId xmlns:a16="http://schemas.microsoft.com/office/drawing/2014/main" id="{4EE16D88-B2D1-4B7E-92B3-B0AD4F5B5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ACED8D9-6D72-A638-28A4-D2A8596F5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263" y="811311"/>
            <a:ext cx="2470772" cy="1803663"/>
          </a:xfrm>
          <a:prstGeom prst="rect">
            <a:avLst/>
          </a:prstGeom>
        </p:spPr>
      </p:pic>
      <p:pic>
        <p:nvPicPr>
          <p:cNvPr id="3074" name="Picture 2" descr="Drawing A Grid In A Webgl Fragment Shader – UKAO">
            <a:extLst>
              <a:ext uri="{FF2B5EF4-FFF2-40B4-BE49-F238E27FC236}">
                <a16:creationId xmlns:a16="http://schemas.microsoft.com/office/drawing/2014/main" id="{8ECC3ED6-97E2-5983-33F9-1D022E604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64360" y="4134618"/>
            <a:ext cx="2470772" cy="95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121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A9FDE-F4CD-17FE-46E0-F4BCA7FE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6DB1AD-E718-7A5D-A77C-66950C75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hu-HU" dirty="0"/>
              <a:t>A rendszer architektúrális felépítése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7E932C71-E106-ABA6-A415-70A25DBC3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216121"/>
            <a:ext cx="4020297" cy="120608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Kép 12">
            <a:extLst>
              <a:ext uri="{FF2B5EF4-FFF2-40B4-BE49-F238E27FC236}">
                <a16:creationId xmlns:a16="http://schemas.microsoft.com/office/drawing/2014/main" id="{5D0F2FB3-CE3C-32C8-4D45-D7969006F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3365664"/>
            <a:ext cx="4020296" cy="2181009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90D0EAF6-C3E8-F65B-B56D-8675667D2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Architektúra</a:t>
            </a:r>
          </a:p>
          <a:p>
            <a:pPr marL="959508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/>
              <a:t>Megjelenítési réteg - </a:t>
            </a:r>
            <a:r>
              <a:rPr lang="hu-HU" sz="2000" dirty="0" err="1"/>
              <a:t>Compose</a:t>
            </a:r>
            <a:r>
              <a:rPr lang="hu-HU" sz="2000" dirty="0"/>
              <a:t> és OpenGL hibrid:</a:t>
            </a:r>
            <a:br>
              <a:rPr lang="hu-HU" sz="2000" dirty="0"/>
            </a:br>
            <a:r>
              <a:rPr lang="hu-HU" i="1" dirty="0" err="1"/>
              <a:t>AndroidView</a:t>
            </a:r>
            <a:r>
              <a:rPr lang="hu-HU" i="1" dirty="0"/>
              <a:t> integráció, Háttér renderelés</a:t>
            </a:r>
            <a:endParaRPr lang="hu-HU" sz="2000" i="1" dirty="0"/>
          </a:p>
          <a:p>
            <a:pPr marL="959508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/>
              <a:t>Logikai vezérlés:</a:t>
            </a:r>
            <a:br>
              <a:rPr lang="hu-HU" sz="2000" dirty="0"/>
            </a:br>
            <a:r>
              <a:rPr lang="hu-HU" i="1" dirty="0" err="1"/>
              <a:t>MainViewModel</a:t>
            </a:r>
            <a:r>
              <a:rPr lang="hu-HU" i="1" dirty="0"/>
              <a:t>, </a:t>
            </a:r>
            <a:r>
              <a:rPr lang="hu-HU" i="1" dirty="0" err="1"/>
              <a:t>ARCoreSessionLifecycle</a:t>
            </a:r>
            <a:r>
              <a:rPr lang="hu-HU" i="1" dirty="0"/>
              <a:t>, </a:t>
            </a:r>
            <a:r>
              <a:rPr lang="hu-HU" i="1" dirty="0" err="1"/>
              <a:t>DisplayRotationHelper</a:t>
            </a:r>
            <a:r>
              <a:rPr lang="hu-HU" i="1" dirty="0"/>
              <a:t>, </a:t>
            </a:r>
            <a:r>
              <a:rPr lang="hu-HU" i="1" dirty="0" err="1"/>
              <a:t>TrackingStateHelper</a:t>
            </a:r>
            <a:r>
              <a:rPr lang="hu-HU" i="1" dirty="0"/>
              <a:t>, </a:t>
            </a:r>
            <a:r>
              <a:rPr lang="hu-HU" i="1" dirty="0" err="1"/>
              <a:t>SnackbarHelper</a:t>
            </a:r>
            <a:endParaRPr lang="hu-HU" sz="2000" i="1" dirty="0"/>
          </a:p>
          <a:p>
            <a:pPr marL="959508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/>
              <a:t>ML </a:t>
            </a:r>
            <a:r>
              <a:rPr lang="hu-HU" sz="2000" dirty="0" err="1"/>
              <a:t>Engine</a:t>
            </a:r>
            <a:r>
              <a:rPr lang="hu-HU" sz="2000" dirty="0"/>
              <a:t>:</a:t>
            </a:r>
            <a:br>
              <a:rPr lang="hu-HU" sz="2000" dirty="0"/>
            </a:br>
            <a:r>
              <a:rPr lang="hu-HU" i="1" dirty="0"/>
              <a:t>Képkonverzió, Modellkonfiguráció, Aszinkron feldolgozás</a:t>
            </a:r>
            <a:endParaRPr lang="hu-HU" sz="2000" i="1" dirty="0"/>
          </a:p>
          <a:p>
            <a:pPr marL="959508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 err="1"/>
              <a:t>Render</a:t>
            </a:r>
            <a:r>
              <a:rPr lang="hu-HU" sz="2000" dirty="0"/>
              <a:t> </a:t>
            </a:r>
            <a:r>
              <a:rPr lang="hu-HU" sz="2000" dirty="0" err="1"/>
              <a:t>Engine</a:t>
            </a:r>
            <a:r>
              <a:rPr lang="hu-HU" sz="2000" dirty="0"/>
              <a:t>:</a:t>
            </a:r>
            <a:br>
              <a:rPr lang="hu-HU" sz="2000" dirty="0"/>
            </a:br>
            <a:r>
              <a:rPr lang="hu-HU" i="1" dirty="0" err="1"/>
              <a:t>SampleRender</a:t>
            </a:r>
            <a:r>
              <a:rPr lang="hu-HU" i="1" dirty="0"/>
              <a:t>, </a:t>
            </a:r>
            <a:r>
              <a:rPr lang="hu-HU" i="1" dirty="0" err="1"/>
              <a:t>AppRenderer</a:t>
            </a:r>
            <a:endParaRPr lang="hu-HU" sz="2000" i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199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9E714-7919-D13C-ED69-63587868E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cxnSp>
        <p:nvCxnSpPr>
          <p:cNvPr id="32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9F23219-D806-05B0-BC4E-4BFC0AB1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/>
              <a:t>A </a:t>
            </a:r>
            <a:r>
              <a:rPr lang="en-US" sz="4100" dirty="0" err="1"/>
              <a:t>rendszer</a:t>
            </a:r>
            <a:r>
              <a:rPr lang="en-US" sz="4100" dirty="0"/>
              <a:t> architektúrális </a:t>
            </a:r>
            <a:r>
              <a:rPr lang="en-US" sz="4100" dirty="0" err="1"/>
              <a:t>felépítése</a:t>
            </a:r>
            <a:endParaRPr lang="en-US" sz="41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5CC465D-1AE2-3CBC-D9E7-39FC44CEC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260" y="0"/>
            <a:ext cx="4626591" cy="6403586"/>
          </a:xfrm>
          <a:prstGeom prst="rect">
            <a:avLst/>
          </a:prstGeom>
        </p:spPr>
      </p:pic>
      <p:cxnSp>
        <p:nvCxnSpPr>
          <p:cNvPr id="34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14FA89B7-C70F-A23A-1AD5-03672C66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7936" y="4454652"/>
            <a:ext cx="3490472" cy="1238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hu-HU" cap="all" spc="200" dirty="0">
                <a:latin typeface="+mj-lt"/>
              </a:rPr>
              <a:t>Képkocka</a:t>
            </a:r>
            <a:r>
              <a:rPr lang="hu-HU" i="1" dirty="0"/>
              <a:t> </a:t>
            </a:r>
            <a:r>
              <a:rPr lang="hu-HU" cap="all" spc="200" dirty="0">
                <a:latin typeface="+mj-lt"/>
              </a:rPr>
              <a:t>megjelenítése</a:t>
            </a:r>
            <a:endParaRPr lang="en-US" cap="all" spc="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4207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2016C-CC72-6223-A6B0-E8427DC0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FE4CEC3-7B84-AF41-D05C-EEB854F0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/>
              <a:t>A </a:t>
            </a:r>
            <a:r>
              <a:rPr lang="en-US" sz="4100" dirty="0" err="1"/>
              <a:t>rendszer</a:t>
            </a:r>
            <a:r>
              <a:rPr lang="en-US" sz="4100" dirty="0"/>
              <a:t> architektúrális </a:t>
            </a:r>
            <a:r>
              <a:rPr lang="en-US" sz="4100" dirty="0" err="1"/>
              <a:t>felépítése</a:t>
            </a:r>
            <a:endParaRPr lang="en-US" sz="41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AF8FE6-4A5F-6D46-1113-08929B6A7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110" y="4455621"/>
            <a:ext cx="3417990" cy="1238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 dirty="0" err="1">
                <a:latin typeface="+mj-lt"/>
              </a:rPr>
              <a:t>Fontosabb</a:t>
            </a:r>
            <a:r>
              <a:rPr lang="en-US" cap="all" spc="200" dirty="0">
                <a:latin typeface="+mj-lt"/>
              </a:rPr>
              <a:t> </a:t>
            </a:r>
            <a:r>
              <a:rPr lang="en-US" cap="all" spc="200" dirty="0" err="1">
                <a:latin typeface="+mj-lt"/>
              </a:rPr>
              <a:t>osztályok</a:t>
            </a:r>
            <a:r>
              <a:rPr lang="en-US" cap="all" spc="200" dirty="0">
                <a:latin typeface="+mj-lt"/>
              </a:rPr>
              <a:t> </a:t>
            </a:r>
            <a:r>
              <a:rPr lang="en-US" cap="all" spc="200" dirty="0" err="1">
                <a:latin typeface="+mj-lt"/>
              </a:rPr>
              <a:t>kapcsolata</a:t>
            </a:r>
            <a:endParaRPr lang="en-US" cap="all" spc="200" dirty="0">
              <a:latin typeface="+mj-lt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D1AB25F-4DA6-3E11-902F-4BE46AFAF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782444"/>
            <a:ext cx="6912217" cy="476942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30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1F7D9-C2F4-02BA-8099-69FFFA06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9373FF-C78A-430B-A246-6048999CE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4681E44-6D2D-3937-002F-F554A0AD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577" y="634946"/>
            <a:ext cx="6846166" cy="1450757"/>
          </a:xfrm>
        </p:spPr>
        <p:txBody>
          <a:bodyPr>
            <a:normAutofit/>
          </a:bodyPr>
          <a:lstStyle/>
          <a:p>
            <a:r>
              <a:rPr lang="hu-HU" dirty="0"/>
              <a:t>Megvalósítás részletei és tapasztalatok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89580F7-685B-5366-B417-028330D5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62" y="480809"/>
            <a:ext cx="4074254" cy="152784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EBB925-FEC3-4CD5-9271-3D75EBB53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9772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Kép 5">
            <a:extLst>
              <a:ext uri="{FF2B5EF4-FFF2-40B4-BE49-F238E27FC236}">
                <a16:creationId xmlns:a16="http://schemas.microsoft.com/office/drawing/2014/main" id="{7278D9AE-4EF5-64B7-8113-5FE9D4D3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2315402"/>
            <a:ext cx="3933708" cy="191768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E182134-C2D6-4DFB-9C2C-03A926359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83" y="4542598"/>
            <a:ext cx="3833140" cy="1399095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F605F5-AD7D-6CB7-7F31-86CF7E0D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1747" y="2198914"/>
            <a:ext cx="6847996" cy="3670180"/>
          </a:xfrm>
        </p:spPr>
        <p:txBody>
          <a:bodyPr>
            <a:normAutofit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Aszinkron képfeldolgozási pipeline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2D-3D koordináta-transzformáció és Raycasting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Dinamikus pontfelhő renderelés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Tapasztalatok és mérések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9B2863-A1A5-4050-8DE8-9BC0AD47F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F76955-21E0-4116-A6AA-19DB89B50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7639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19DDA-CF0F-2553-E891-8AD98492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E14809C-AB06-455C-9E09-733EC00D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612D73-1056-4289-A977-92C9190C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4C5A9E5-0F35-4AA6-AF26-B90A2D47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5BF3768-60B2-6FA4-61DC-44F589340E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493" y="328272"/>
            <a:ext cx="2625968" cy="567777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D9DB69D-7E48-4FDF-806E-F0B4BF00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6BF69C-4724-4F8D-8EA6-1487E9C9C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15A7A29-DF31-0F2E-2AF8-4208AB8BCF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539" y="328272"/>
            <a:ext cx="2625968" cy="567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78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D5CFDB-8B5F-AD92-0618-AD35C93B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E705BD0-F132-0E6B-7FF6-C91248A1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hu-HU" dirty="0"/>
              <a:t>Továbbfejlesztési lehetőségek</a:t>
            </a:r>
          </a:p>
        </p:txBody>
      </p:sp>
      <p:pic>
        <p:nvPicPr>
          <p:cNvPr id="4098" name="Picture 2" descr="Depth API quickstart for Android | ARCore | Google for Developers">
            <a:extLst>
              <a:ext uri="{FF2B5EF4-FFF2-40B4-BE49-F238E27FC236}">
                <a16:creationId xmlns:a16="http://schemas.microsoft.com/office/drawing/2014/main" id="{0B218C2C-3139-602D-8133-06221666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870264"/>
            <a:ext cx="5451627" cy="479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176E37-03AC-4974-88B5-46EBEEF65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Specifikus tárgyfelismerés egyedi modellekkel (TFLite)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Mélységi oklúzió (Depth API)</a:t>
            </a:r>
          </a:p>
          <a:p>
            <a:pPr marL="540000" indent="-216000">
              <a:buFont typeface="Wingdings" panose="05000000000000000000" pitchFamily="2" charset="2"/>
              <a:buChar char="§"/>
            </a:pPr>
            <a:r>
              <a:rPr lang="hu-HU" sz="2400" dirty="0"/>
              <a:t>Adatbázis alapú adatmegjelenítés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243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cxnSp>
        <p:nvCxnSpPr>
          <p:cNvPr id="23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12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C0FAC83-467A-21AC-67E6-4B2D4D28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 err="1"/>
              <a:t>Köszönöm</a:t>
            </a:r>
            <a:r>
              <a:rPr lang="en-US" sz="8000" dirty="0"/>
              <a:t> a </a:t>
            </a:r>
            <a:r>
              <a:rPr lang="en-US" sz="8000" dirty="0" err="1"/>
              <a:t>figyelmet</a:t>
            </a:r>
            <a:r>
              <a:rPr lang="en-US" sz="8000" dirty="0"/>
              <a:t>!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72411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Narancs–vörö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434</TotalTime>
  <Words>245</Words>
  <Application>Microsoft Office PowerPoint</Application>
  <PresentationFormat>Szélesvásznú</PresentationFormat>
  <Paragraphs>65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Retrospektív</vt:lpstr>
      <vt:lpstr>AR objektumfelismerő alkalmazás</vt:lpstr>
      <vt:lpstr>Bevezetés, témaválasztás aktualitása</vt:lpstr>
      <vt:lpstr>Feladat és problémakör bemutatása</vt:lpstr>
      <vt:lpstr>Félév ütemezése</vt:lpstr>
      <vt:lpstr>Felhasznált technológiák</vt:lpstr>
      <vt:lpstr>Felhasznált technológiák</vt:lpstr>
      <vt:lpstr>A rendszer architektúrális felépítése</vt:lpstr>
      <vt:lpstr>A rendszer architektúrális felépítése</vt:lpstr>
      <vt:lpstr>A rendszer architektúrális felépítése</vt:lpstr>
      <vt:lpstr>Megvalósítás részletei és tapasztalatok</vt:lpstr>
      <vt:lpstr>PowerPoint-bemutató</vt:lpstr>
      <vt:lpstr>Továbbfejlesztési lehetőségek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Tamás Gál</dc:creator>
  <cp:lastModifiedBy>Tamás Gál</cp:lastModifiedBy>
  <cp:revision>83</cp:revision>
  <dcterms:created xsi:type="dcterms:W3CDTF">2026-06-01T10:02:26Z</dcterms:created>
  <dcterms:modified xsi:type="dcterms:W3CDTF">2026-06-04T08:48:07Z</dcterms:modified>
</cp:coreProperties>
</file>